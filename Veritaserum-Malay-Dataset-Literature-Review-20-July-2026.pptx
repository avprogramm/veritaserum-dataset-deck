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372553926403c" /><Relationship Type="http://schemas.openxmlformats.org/officeDocument/2006/relationships/extended-properties" Target="/docProps/app.xml" Id="Rdd5f2af9f0b6483e" /><Relationship Type="http://schemas.openxmlformats.org/officeDocument/2006/relationships/officeDocument" Target="/ppt/presentation.xml" Id="Rff54828c88f14c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c3da9d7234d33"/>
  </p:sldMasterIdLst>
  <p:notesMasterIdLst>
    <p:notesMasterId xmlns:r="http://schemas.openxmlformats.org/officeDocument/2006/relationships" r:id="Rad649cde948e44e5"/>
  </p:notesMasterIdLst>
  <p:sldIdLst>
    <p:sldId xmlns:r="http://schemas.openxmlformats.org/officeDocument/2006/relationships" id="256" r:id="R3e2aa906fe094642"/>
    <p:sldId xmlns:r="http://schemas.openxmlformats.org/officeDocument/2006/relationships" id="257" r:id="Rb02b7a8edbd543d7"/>
    <p:sldId xmlns:r="http://schemas.openxmlformats.org/officeDocument/2006/relationships" id="258" r:id="Ra16bb2b7d0fd4649"/>
    <p:sldId xmlns:r="http://schemas.openxmlformats.org/officeDocument/2006/relationships" id="259" r:id="Rf3daf6b608fc4619"/>
    <p:sldId xmlns:r="http://schemas.openxmlformats.org/officeDocument/2006/relationships" id="260" r:id="Rbfb8a190894f4133"/>
    <p:sldId xmlns:r="http://schemas.openxmlformats.org/officeDocument/2006/relationships" id="261" r:id="R2a77a2c9446c4e7e"/>
    <p:sldId xmlns:r="http://schemas.openxmlformats.org/officeDocument/2006/relationships" id="262" r:id="R8530273e9ec94d42"/>
    <p:sldId xmlns:r="http://schemas.openxmlformats.org/officeDocument/2006/relationships" id="263" r:id="Ra20d150372cf4c36"/>
    <p:sldId xmlns:r="http://schemas.openxmlformats.org/officeDocument/2006/relationships" id="264" r:id="R1409c576407f43b1"/>
    <p:sldId xmlns:r="http://schemas.openxmlformats.org/officeDocument/2006/relationships" id="265" r:id="R0cd6de0d3d3a43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7b05071bd4fea" /><Relationship Type="http://schemas.openxmlformats.org/officeDocument/2006/relationships/slideMaster" Target="/ppt/slideMasters/slideMaster1.xml" Id="Ra21c3da9d7234d33" /><Relationship Type="http://schemas.openxmlformats.org/officeDocument/2006/relationships/notesMaster" Target="/ppt/notesMasters/notesMaster1.xml" Id="Rad649cde948e44e5" /><Relationship Type="http://schemas.openxmlformats.org/officeDocument/2006/relationships/presProps" Target="/ppt/presProps.xml" Id="Rf9713b9a23774ad5" /><Relationship Type="http://schemas.openxmlformats.org/officeDocument/2006/relationships/tableStyles" Target="/ppt/tableStyles.xml" Id="Rc7f54feea7d3493b" /><Relationship Type="http://schemas.openxmlformats.org/officeDocument/2006/relationships/slide" Target="/ppt/slides/slide1.xml" Id="R3e2aa906fe094642" /><Relationship Type="http://schemas.openxmlformats.org/officeDocument/2006/relationships/slide" Target="/ppt/slides/slide2.xml" Id="Rb02b7a8edbd543d7" /><Relationship Type="http://schemas.openxmlformats.org/officeDocument/2006/relationships/slide" Target="/ppt/slides/slide3.xml" Id="Ra16bb2b7d0fd4649" /><Relationship Type="http://schemas.openxmlformats.org/officeDocument/2006/relationships/slide" Target="/ppt/slides/slide4.xml" Id="Rf3daf6b608fc4619" /><Relationship Type="http://schemas.openxmlformats.org/officeDocument/2006/relationships/slide" Target="/ppt/slides/slide5.xml" Id="Rbfb8a190894f4133" /><Relationship Type="http://schemas.openxmlformats.org/officeDocument/2006/relationships/slide" Target="/ppt/slides/slide6.xml" Id="R2a77a2c9446c4e7e" /><Relationship Type="http://schemas.openxmlformats.org/officeDocument/2006/relationships/slide" Target="/ppt/slides/slide7.xml" Id="R8530273e9ec94d42" /><Relationship Type="http://schemas.openxmlformats.org/officeDocument/2006/relationships/slide" Target="/ppt/slides/slide8.xml" Id="Ra20d150372cf4c36" /><Relationship Type="http://schemas.openxmlformats.org/officeDocument/2006/relationships/slide" Target="/ppt/slides/slide9.xml" Id="R1409c576407f43b1" /><Relationship Type="http://schemas.openxmlformats.org/officeDocument/2006/relationships/slide" Target="/ppt/slides/slide10.xml" Id="R0cd6de0d3d3a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96a4d2c56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c104ae0e5e4e1b" /><Relationship Type="http://schemas.openxmlformats.org/officeDocument/2006/relationships/notesMaster" Target="/ppt/notesMasters/notesMaster1.xml" Id="Rdea44b8f535547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893a9e2f94f03" /><Relationship Type="http://schemas.openxmlformats.org/officeDocument/2006/relationships/notesMaster" Target="/ppt/notesMasters/notesMaster1.xml" Id="R8072af14f3a142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a2ea8c4eaa4fd9" /><Relationship Type="http://schemas.openxmlformats.org/officeDocument/2006/relationships/notesMaster" Target="/ppt/notesMasters/notesMaster1.xml" Id="Rccf8848f066b4a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4d018dc22843f4" /><Relationship Type="http://schemas.openxmlformats.org/officeDocument/2006/relationships/notesMaster" Target="/ppt/notesMasters/notesMaster1.xml" Id="Rb23d8591983c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4f4ee92389464a" /><Relationship Type="http://schemas.openxmlformats.org/officeDocument/2006/relationships/notesMaster" Target="/ppt/notesMasters/notesMaster1.xml" Id="Raeb95d09923449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b2cdfc45b406f" /><Relationship Type="http://schemas.openxmlformats.org/officeDocument/2006/relationships/notesMaster" Target="/ppt/notesMasters/notesMaster1.xml" Id="R5f70a561feaa44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2fc24a6c24b69" /><Relationship Type="http://schemas.openxmlformats.org/officeDocument/2006/relationships/notesMaster" Target="/ppt/notesMasters/notesMaster1.xml" Id="R6ac8a6686de243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d5741a1c3347c0" /><Relationship Type="http://schemas.openxmlformats.org/officeDocument/2006/relationships/notesMaster" Target="/ppt/notesMasters/notesMaster1.xml" Id="Ra665e162c33844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9de5a27a264aaa" /><Relationship Type="http://schemas.openxmlformats.org/officeDocument/2006/relationships/notesMaster" Target="/ppt/notesMasters/notesMaster1.xml" Id="R679e4067189641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b28060a9ae46d3" /><Relationship Type="http://schemas.openxmlformats.org/officeDocument/2006/relationships/notesMaster" Target="/ppt/notesMasters/notesMaster1.xml" Id="R7fda91a1907745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a4672319145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2a813de244199" /><Relationship Type="http://schemas.openxmlformats.org/officeDocument/2006/relationships/slideLayout" Target="/ppt/slideLayouts/slideLayout1.xml" Id="Rb5e0717a4d1e4c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e0717a4d1e4c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d6013d3ce4a6a" /><Relationship Type="http://schemas.openxmlformats.org/officeDocument/2006/relationships/notesSlide" Target="/ppt/notesSlides/notesSlide1.xml" Id="R4973eef2c8ec4b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6a1068a04c79" /><Relationship Type="http://schemas.openxmlformats.org/officeDocument/2006/relationships/notesSlide" Target="/ppt/notesSlides/notesSlide2.xml" Id="R293177c2388e47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ad6cf7124551" /><Relationship Type="http://schemas.openxmlformats.org/officeDocument/2006/relationships/notesSlide" Target="/ppt/notesSlides/notesSlide3.xml" Id="Rb4e69505908d47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b6269d0954750" /><Relationship Type="http://schemas.openxmlformats.org/officeDocument/2006/relationships/notesSlide" Target="/ppt/notesSlides/notesSlide4.xml" Id="R669d4fa5621c45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ce511206d4e82" /><Relationship Type="http://schemas.openxmlformats.org/officeDocument/2006/relationships/notesSlide" Target="/ppt/notesSlides/notesSlide5.xml" Id="R0c9db72e9d40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85e2d8994994" /><Relationship Type="http://schemas.openxmlformats.org/officeDocument/2006/relationships/notesSlide" Target="/ppt/notesSlides/notesSlide6.xml" Id="R937861d2622647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52bf3f3504af1" /><Relationship Type="http://schemas.openxmlformats.org/officeDocument/2006/relationships/notesSlide" Target="/ppt/notesSlides/notesSlide7.xml" Id="R00e9277dfcc04a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88ca1df40441f" /><Relationship Type="http://schemas.openxmlformats.org/officeDocument/2006/relationships/notesSlide" Target="/ppt/notesSlides/notesSlide8.xml" Id="Rda52036857ff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bcea35f042d9" /><Relationship Type="http://schemas.openxmlformats.org/officeDocument/2006/relationships/notesSlide" Target="/ppt/notesSlides/notesSlide9.xml" Id="R7880a3588330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afe3964fc446b" /><Relationship Type="http://schemas.openxmlformats.org/officeDocument/2006/relationships/notesSlide" Target="/ppt/notesSlides/notesSlide10.xml" Id="Rfdde904fd54d47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6EF20-96D8-4F92-8154-C7CBBD54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8EB7B-7861-4847-9AC9-3A0BA6F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8580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0E1A"/>
          </a:solidFill>
          <a:ln xmlns:a="http://schemas.openxmlformats.org/drawingml/2006/main" w="9525">
            <a:solidFill>
              <a:srgbClr val="0D0E1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B6F46-57CC-4E02-BFC8-986E949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71E2E-894C-47D7-9FB7-EEE31FCE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EF0FA"/>
                </a:solidFill>
              </a:defRPr>
            </a:pPr>
            <a:r>
              <a:rPr sz="1050" b="1">
                <a:solidFill>
                  <a:srgbClr val="EEF0FA"/>
                </a:solidFill>
              </a:rPr>
              <a:t>VERITASERUM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E940E-C93A-4BED-A2D7-884D86C4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286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E3F"/>
          </a:solidFill>
          <a:ln xmlns:a="http://schemas.openxmlformats.org/drawingml/2006/main" w="9525">
            <a:solidFill>
              <a:srgbClr val="1F5E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91FF1-34BA-4938-B66C-652571E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667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EF0FA"/>
                </a:solidFill>
              </a:defRPr>
            </a:pPr>
            <a:r>
              <a:rPr sz="1050" b="1">
                <a:solidFill>
                  <a:srgbClr val="EEF0FA"/>
                </a:solidFill>
              </a:rPr>
              <a:t>TEAM MCS13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A7354-8467-4E65-AD47-74E26C4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8BFA"/>
                </a:solidFill>
              </a:defRPr>
            </a:pPr>
            <a:r>
              <a:rPr sz="1200" b="1">
                <a:solidFill>
                  <a:srgbClr val="A78BFA"/>
                </a:solidFill>
              </a:rPr>
              <a:t>UPDATED LITERATURE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D1796-286F-4140-AB67-2F02EB86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EF0FA"/>
                </a:solidFill>
              </a:defRPr>
            </a:pPr>
            <a:r>
              <a:rPr sz="4650" b="1">
                <a:solidFill>
                  <a:srgbClr val="EEF0FA"/>
                </a:solidFill>
              </a:rPr>
              <a:t>Malay Fact-Checking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BD4D3-7286-4518-A096-39A2C4F3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847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A78BFA"/>
                </a:solidFill>
              </a:defRPr>
            </a:pPr>
            <a:r>
              <a:rPr sz="3000" b="1">
                <a:solidFill>
                  <a:srgbClr val="A78BFA"/>
                </a:solidFill>
              </a:rPr>
              <a:t>What exists, what is missing, and what we build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51BB5-8457-45C2-B5CE-77AF4875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AFCE"/>
                </a:solidFill>
              </a:defRPr>
            </a:pPr>
            <a:r>
              <a:rPr sz="1650" b="0">
                <a:solidFill>
                  <a:srgbClr val="A9AFCE"/>
                </a:solidFill>
              </a:rPr>
              <a:t>Correcting the MalCov finding and turning the real evidence-grounded gap into a permission-aware pilot.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FC760-E7CF-4AA5-A725-26AD9C3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FCE"/>
                </a:solidFill>
              </a:defRPr>
            </a:pPr>
            <a:r>
              <a:rPr sz="1275" b="0">
                <a:solidFill>
                  <a:srgbClr val="A9AFCE"/>
                </a:solidFill>
              </a:rPr>
              <a:t>Supervisor: Dr Abdul Rafae Khan  •  20 July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596F0-C805-4657-9D81-66369F3B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Veritaserum • FIT3161/3162 Final Year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B5436-ABDE-4097-9DA3-9830DDF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3462413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D52BB-6492-4DD3-B0B0-CE17313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THE CORRECTED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A3F9B-AEF9-4CBF-AB0F-7DB6B03A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MalCov is not the only Malay misinformation resource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D0B33-CB60-42D8-8E15-A4F7DBEE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The important gap is evidence-grounded verification—not the total absence of Malay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FE7E-5CE6-4E72-BE20-0FD5A9B0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CAB57-A9A4-4042-B6AD-9977AFFD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CD34D"/>
                </a:solidFill>
              </a:defRPr>
            </a:pPr>
            <a:r>
              <a:rPr sz="4950" b="1">
                <a:solidFill>
                  <a:srgbClr val="FCD34D"/>
                </a:solidFill>
              </a:rPr>
              <a:t>215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4C2C0-236A-4449-8202-AF011C00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MalCov COVID items</a:t>
            </a:r>
          </a:p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171 fake • 44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78145-F253-4191-A992-D385371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98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4ADE80"/>
                </a:solidFill>
              </a:defRPr>
            </a:pPr>
            <a:r>
              <a:rPr sz="4950" b="1">
                <a:solidFill>
                  <a:srgbClr val="4ADE80"/>
                </a:solidFill>
              </a:rPr>
              <a:t>3,068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28235-25EB-4E29-9B13-7819968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48000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Fake.my-COVID19</a:t>
            </a:r>
          </a:p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labelled Malay–English tweets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EB99A-86BB-4057-8291-DD4F9C88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A78BFA"/>
                </a:solidFill>
              </a:defRPr>
            </a:pPr>
            <a:r>
              <a:rPr sz="4950" b="1">
                <a:solidFill>
                  <a:srgbClr val="A78BFA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FC601D-D3D4-4FC9-B562-F8E44EBC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800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open Malay benchmarks with</a:t>
            </a:r>
          </a:p>
          <a:p xmlns:a="http://schemas.openxmlformats.org/drawingml/2006/main">
            <a:pPr algn="ctr">
              <a:defRPr sz="1350" b="0">
                <a:solidFill>
                  <a:srgbClr val="A9AFCE"/>
                </a:solidFill>
              </a:defRPr>
            </a:pPr>
            <a:r>
              <a:rPr sz="1350" b="0">
                <a:solidFill>
                  <a:srgbClr val="A9AFCE"/>
                </a:solidFill>
              </a:rPr>
              <a:t>claims + evidence + temporal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838D4-BB0E-4078-94F7-2EBB68F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10134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EF0FA"/>
                </a:solidFill>
              </a:defRPr>
            </a:pPr>
            <a:r>
              <a:rPr sz="1575" b="0">
                <a:solidFill>
                  <a:srgbClr val="EEF0FA"/>
                </a:solidFill>
              </a:rPr>
              <a:t>Also found: public positive/negative Malay fake-news files in Malaysian-Dataset. Their provenance and licensing still require audit.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905DA-CA63-4071-A168-5660A7D1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67375"/>
            <a:ext cx="922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Scoped finding: no open evidence-grounded Malay verification benchmark was located in the literature and repository audit.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A14BC-3C35-4D01-9AD7-46CD24B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Sources: MalCov DOI 10.1109/IVIT55443.2022.10033374 • Fake.my DOI 10.18080/jtde.v11n3.789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E49A6-35EF-4CC1-B037-BA086DE8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747672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65AAA3-4E95-43D0-8C34-698CAF06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RESOURCE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79D02-AEEB-4523-947D-5748656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Malay data exists—but supports different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E716E-7212-4E01-B526-0D22E0F9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F5A3F-00D1-422A-8BA5-B23331F8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94B77-C7EB-438C-91A0-7EAEFDA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478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1D767-52EA-4522-9303-5974D73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14475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Language /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49C23-419A-450A-8099-C7C0BBFA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478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06F30-245E-44D7-AEBA-D8CC84A5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144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Actual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9B071-AFDC-4C77-B1B1-926BECF6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47800"/>
            <a:ext cx="3390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65600-5CA3-48ED-BEFE-421E23CE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1447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Main limitation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A3ABD-F3D1-4915-8A6D-C4468CFD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2D674-E7F3-4F0D-AA21-0DDFCA17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MalCov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4AACC-0166-46DB-B695-BDC9CD97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050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BD117-2524-4E5D-81EF-9E9C48A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2419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Malay • 215 items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EC248-43A3-46FF-AFD4-2770FE4C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B2DFC-45DB-49D2-9E47-DE7366DF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167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Binary COVID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7E2C0-E4E2-436D-AAED-EA1EB61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339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0D31C-6585-4E5B-9E3B-17F92D3F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716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No independent evidence pairs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E688B-CD2C-4A3F-BC5E-1CB3D77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3FA61-5282-4AE4-8A14-E800A30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Fake.my-COVID19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38B31-E082-4172-A475-7B3CADD6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C63D8-62AE-48CD-A7AF-353BFEB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52725"/>
            <a:ext cx="2419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Malay–English • 3,068 tweets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0A563-4F4C-42AF-979B-46C6E26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860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01E5D-0EAA-4023-93C0-7BD08E25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527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Binary COVID classification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5B89E-37A0-44B9-B9BD-63FBBA5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39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28C06-3521-4CE7-952A-04D1A68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COVID-only; no evidence package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5C2C41-EF50-478F-BAFD-8F0B2727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5798F-02CA-41BD-A28F-3336B317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Malaysian-Dataset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9CE54-3C62-4D7E-A72B-C1429F1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671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B3E1FC-6A45-4D2F-988C-C7CB64BD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33775"/>
            <a:ext cx="2419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Malay • public JSON 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636C5B-C56F-4915-85DD-36E87E17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671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62E20-B3DA-4016-B07A-35AC9440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Classification / summaries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3CF0A2-DB09-4931-B3BD-B82E3FA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339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56B8B4-C025-47B7-A771-32C09489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Provenance, licence and labels need audit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93C0AC-6361-4FDE-8DDF-BC2EF1C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4C1D4D-BA76-4E14-80FF-10600203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Mixed COVID Twitter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1F3E41-61E3-48E2-BD45-E76F9FEE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481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CC7A04-526B-40A3-9CAD-AF11847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14825"/>
            <a:ext cx="2419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108,246 tweets • &gt;67% Malay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AF5AC-F601-436D-81A6-1AABF7D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2481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EC8D2F-158F-412C-8F89-D9AEE06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1482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Sentiment analysis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A90ECF-FAA7-4FD9-B8E2-FA54955D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39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FF0A7E-FB56-40CE-96AD-ED676E6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1482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Not a misinformation gold set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60AAD1-F5C1-4D06-8EAF-7D371736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C74BAA-C1DE-42D8-B67E-9CEB6A0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03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MultiClaim / AMC-16K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98DE25-8F91-4B7F-A105-0E6B7831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2920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6F9270-F11B-4D13-A285-55EB9B2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2419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Multilingual • includes Malay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3F450B-6F73-403C-B00E-020D4BAD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292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2C45AA-D0CC-49F6-98F7-AA124C37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95875"/>
            <a:ext cx="251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Retrieval / fact-check pairing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50FC6-7EED-42BC-86B9-AA7D510E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3390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6F1A37-E80A-48FB-B424-2C3B41ED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95875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0FA"/>
                </a:solidFill>
              </a:defRPr>
            </a:pPr>
            <a:r>
              <a:rPr sz="1200" b="0">
                <a:solidFill>
                  <a:srgbClr val="EEF0FA"/>
                </a:solidFill>
              </a:rPr>
              <a:t>No evidence-grounded verdict evaluation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902F50-5102-485A-A5E1-7C2D919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Sources: Malaysian-Dataset docs • MDPI BDCC 7(2):61 • MultiClaim v2 Zenodo 15413169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4518E2-C9FF-4D85-8EBA-4643C41D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519141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7731F-BB02-465C-BA27-2212F704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WHAT THE LITERATURE ACTUALLY LEAVES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BBFA-D455-4980-ACCC-921AB283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The research gap is narrower—and more valuable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D8CA0-FC79-4B12-AF8A-E935678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Existing resources stop before the full verification problem that Veritaserum needs to evaluate.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09FF0-51E2-4C44-8D81-BA254A6C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909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39CC-3060-4754-B127-F05F95A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33C8F-D00C-410A-9726-868EED01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E1A"/>
                </a:solidFill>
              </a:defRPr>
            </a:pPr>
            <a:r>
              <a:rPr sz="1050" b="1">
                <a:solidFill>
                  <a:srgbClr val="0D0E1A"/>
                </a:solidFill>
              </a:rPr>
              <a:t>AVAILABLE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CC7C8-62CD-4D0A-A719-08D0CE5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0FA"/>
                </a:solidFill>
              </a:defRPr>
            </a:pPr>
            <a:r>
              <a:rPr sz="2025" b="1">
                <a:solidFill>
                  <a:srgbClr val="EEF0FA"/>
                </a:solidFill>
              </a:rPr>
              <a:t>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F83E-5C3A-478B-AB5B-AADEC638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Text or tweet → fake / real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MalCov • Fake.my • Malaysian-Dataset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B715F-3615-407E-AE69-C4EFB0D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76450"/>
            <a:ext cx="33909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57E74-94DC-45AF-8D85-968850B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30D0-579E-426B-A7C2-55538621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E1A"/>
                </a:solidFill>
              </a:defRPr>
            </a:pPr>
            <a:r>
              <a:rPr sz="1050" b="1">
                <a:solidFill>
                  <a:srgbClr val="0D0E1A"/>
                </a:solidFill>
              </a:rPr>
              <a:t>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43F6F-09A8-4D09-A9BB-F874CFE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0FA"/>
                </a:solidFill>
              </a:defRPr>
            </a:pPr>
            <a:r>
              <a:rPr sz="2025" b="1">
                <a:solidFill>
                  <a:srgbClr val="EEF0FA"/>
                </a:solidFill>
              </a:rPr>
              <a:t>Retrieval &amp; pairing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B8356-2C02-4C17-9D9C-749CD6B4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Post → previously checked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MultiClaim • AMC-16K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390B8-A056-44AD-AD7D-3A324D98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909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FCD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19BFD-0637-4471-B3E6-6BA36A4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66950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D34D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1B9041-D3BA-47B5-A23A-504C56D6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D0E1A"/>
                </a:solidFill>
              </a:defRPr>
            </a:pPr>
            <a:r>
              <a:rPr sz="1050" b="1">
                <a:solidFill>
                  <a:srgbClr val="0D0E1A"/>
                </a:solidFill>
              </a:rPr>
              <a:t>OPEN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DAD12-6C17-46C2-9C39-FF1830A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0FA"/>
                </a:solidFill>
              </a:defRPr>
            </a:pPr>
            <a:r>
              <a:rPr sz="2025" b="1">
                <a:solidFill>
                  <a:srgbClr val="EEF0FA"/>
                </a:solidFill>
              </a:rPr>
              <a:t>Evidence-grounded verification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5AC3D-8779-4170-BDC8-CADFB1F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05200"/>
            <a:ext cx="293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Claim → independent evidence → verdict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No open Malay benchmark located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C3755-CF86-4746-88E2-D59BC646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172A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083E9-E661-44BB-AC4A-0DF3B2E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Target dataset: real Malay claims + independent pre-claim evidence + original and mapped verdicts + auditable provenance.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73634-3C81-420F-9FC8-47122904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Interpretation based on task definitions in the reviewed datasets and Veritaserum's retrieval/verdict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BB9B1-E898-44F7-AC87-41413DF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30109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03FC04-B926-4A6C-ACAE-C9268987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CANDIDATE COLLECTION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157DE-D913-42CA-A28D-2EDB196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The useful archives are active—but not equally reusable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F6EA0-31A2-4F3A-9E10-DD978E02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799F5-6923-42F6-9B21-8DD7A7B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1BA7C-776E-4B3E-AEB7-BCB44BA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47800"/>
            <a:ext cx="2905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C5C1E-64DD-4C31-B281-C918264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14475"/>
            <a:ext cx="2752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What it offers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1D1EE-017F-4BEB-A5CB-8A582CB8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4478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F153E-B7E5-4400-96F1-DD6E35C6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14475"/>
            <a:ext cx="2657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Use located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4917F-6442-4A97-BB25-7CCC013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478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61E94-797F-440F-9FB5-136B420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144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Current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69D6E-7393-4BBA-A659-2BCDF69D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16A4-6FED-4409-8218-3443FF1C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Sebenarnya.my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BF0D2-351B-4105-ABA8-C161CBE6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05000"/>
            <a:ext cx="2905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275D-53D8-4445-AAC0-7D6A058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71675"/>
            <a:ext cx="2752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Large Malay, all-topic fact-check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0C782-AB37-40D6-B137-AD65F70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905000"/>
            <a:ext cx="2809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D3874-D92E-4B9F-90E9-994F6DA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71675"/>
            <a:ext cx="2657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Partly used by MalCov and COVID studies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3B4B3-BBBF-44AE-9576-4A41FD4A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3105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D3DA3-40F7-4E6A-AE8D-259ED19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Priority pilot source; confirm automated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4FC78-D52F-4972-8BDC-DA2CF7F3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2F831-14C4-45B8-91C6-92A510E0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MyCheck Malaysia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DFB81-E0E6-456F-84DA-46A681B9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2905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A7E0C-F2D7-4985-A7C0-D366A5E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90825"/>
            <a:ext cx="2752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Claim, result, truth meter and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212E0-44D3-462F-9CB3-2931EC19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724150"/>
            <a:ext cx="2809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FB282A-817C-4658-9C7B-1B4BE21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90825"/>
            <a:ext cx="2657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No public Malay verification benchmark located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776C8-F6D8-4C1D-8AD9-3CDC1B8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3105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CB9C7-80EB-452A-9D92-28CD18B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Excellent structure; seek written permission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598DD-005C-49BE-B7A8-FCAC891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6A13B-BD7C-4666-A768-31FE86DE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JomCheck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1E505-FD75-4A34-BE67-8CAADAA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2905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57DDFA-A8AD-4C89-B146-FBEEC0A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2752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Independent alliance and partner fact-checks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D7BA33-A493-43A2-BCDE-1FC469EB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543300"/>
            <a:ext cx="2809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C84F74-0CCA-4346-984C-A7185E4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9975"/>
            <a:ext cx="2657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No public Malay verification benchmark located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8ED81F-A6BC-4635-A7A6-EC9D07CA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3105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19BCC2-6F8F-45F7-968E-086BF735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997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Map partner-specific rights and policies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580151-7558-42D4-9254-6C007269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035ED-764C-40AD-9EED-AEEA0046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AFP Malaysia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3D76E-84C2-4906-9936-6A89DB7B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2905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6134CB-E225-4D24-B19E-884E311B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29125"/>
            <a:ext cx="2752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Professional claims and source links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FAB119-DE2A-4D80-8C51-53C0EA8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62450"/>
            <a:ext cx="2809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2BC38-6A73-4F72-8FFD-BA5AE7E2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29125"/>
            <a:ext cx="2657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May feed ClaimReview/retrieval collections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5654F4-9DE6-4A46-8387-5BAB5EB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105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B96A0-B232-4E6C-84ED-877393E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Use metadata/URLs unless licensed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90DC13-DB2E-4373-8839-C6540A8B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AB624E-BF23-4AF9-B573-E34F205A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847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DOSM / data.gov.my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6D239C-0107-40EA-93F7-6A67612D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2905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C95945-FC67-4152-98FD-7704D0BE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2752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Primary statistics and official records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55764C-47B2-4AEB-A14C-70BE7035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181600"/>
            <a:ext cx="2809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EBC502-372E-4884-9A8E-1B8841D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248275"/>
            <a:ext cx="2657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Evidence—not claim datasets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117C61-1D32-4E8F-A786-A0FDFC72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3105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4A36A0-7DE7-44AD-9CD7-DC6DE7D9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4827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EEF0FA"/>
                </a:solidFill>
              </a:defRPr>
            </a:pPr>
            <a:r>
              <a:rPr sz="1163" b="0">
                <a:solidFill>
                  <a:srgbClr val="EEF0FA"/>
                </a:solidFill>
              </a:rPr>
              <a:t>Preferred independent evidence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B91317-1981-454D-81A5-04F16CF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Official sources: sebenarnya.my • mycheck.my/operation • jomcheck.org • factcheck.afp.com/list/Malaysia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E07BA1-1687-4407-AFA7-877E856B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1102698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F39F8-D928-4ED7-9409-DE7FEE8E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COLLECTION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E6FA1-CA05-4459-8BB1-07987D3E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The dataset starts with permission—not scraping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38FDC-2415-4DE0-916C-F53D917D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429000" cy="40576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B2512"/>
          </a:solidFill>
          <a:ln xmlns:a="http://schemas.openxmlformats.org/drawingml/2006/main" w="19050">
            <a:solidFill>
              <a:srgbClr val="FCD3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A4A18-AA79-4CFF-8C1B-0E0BDE89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CD34D"/>
                </a:solidFill>
              </a:defRPr>
            </a:pPr>
            <a:r>
              <a:rPr sz="2175" b="1">
                <a:solidFill>
                  <a:srgbClr val="FCD34D"/>
                </a:solidFill>
              </a:rPr>
              <a:t>Before collection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1845E-8B39-4FE5-BE32-6960B097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F03C4-4CCE-4F7B-A4B5-90FAD88E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86050"/>
            <a:ext cx="2552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Review robots.txt and site terms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DDEE7-66C7-4BE2-B997-8018FA84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21694-7B1E-4C4E-A44A-170EB76F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2552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Confirm copyright and redistribution rights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B03B4-928B-4680-AA37-73CC9201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E7564-516D-4226-9959-E81FF76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2552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Record Monash ethics and privacy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CF02B-BF49-4B0E-96BA-5EF6C8C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3A4D2-B92F-4145-95D1-3A3E84FB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2552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Seek written permission where terms are restrictive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BF924-AB63-4AE6-9AB7-257DB218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CD34D"/>
                </a:solidFill>
              </a:defRPr>
            </a:pPr>
            <a:r>
              <a:rPr sz="1200" b="0">
                <a:solidFill>
                  <a:srgbClr val="FCD34D"/>
                </a:solidFill>
              </a:rPr>
              <a:t>MyCheck limits use to personal, non-commercial viewing. AFP explicitly restricts reproduction without a licence.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BB518-E4DA-4BEC-8AE6-2523EF8B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0FA"/>
                </a:solidFill>
              </a:defRPr>
            </a:pPr>
            <a:r>
              <a:rPr sz="2250" b="1">
                <a:solidFill>
                  <a:srgbClr val="EEF0FA"/>
                </a:solidFill>
              </a:rPr>
              <a:t>Leak-resistant annotation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2E0BC-C057-49B9-9F8C-37E2628A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E2D9D-B9EC-4A38-927A-5F0C169F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0FA"/>
                </a:solidFill>
              </a:defRPr>
            </a:pPr>
            <a:r>
              <a:rPr sz="1500" b="0">
                <a:solidFill>
                  <a:srgbClr val="EEF0FA"/>
                </a:solidFill>
              </a:rPr>
              <a:t>Fact-check pages provide claim wording, published ratings and discovery leads—not model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FCC7-C903-4247-A3EE-316D568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8A5C2-1E85-460F-952C-650F9E3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05150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0FA"/>
                </a:solidFill>
              </a:defRPr>
            </a:pPr>
            <a:r>
              <a:rPr sz="1500" b="0">
                <a:solidFill>
                  <a:srgbClr val="EEF0FA"/>
                </a:solidFill>
              </a:rPr>
              <a:t>Evidence should be independent and published before the claim wherever possible.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1CFB7-5AE8-4C27-8974-D9589292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0A3D2-2DAC-479E-858F-96CB417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0FA"/>
                </a:solidFill>
              </a:defRPr>
            </a:pPr>
            <a:r>
              <a:rPr sz="1500" b="0">
                <a:solidFill>
                  <a:srgbClr val="EEF0FA"/>
                </a:solidFill>
              </a:rPr>
              <a:t>Retain each portal's original rating and document every mapping to Supported / Refuted / NEI.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38E8B-FB9E-4A60-AE10-85DCF001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00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F879F-DFBA-4498-89F1-797686FE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00550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0FA"/>
                </a:solidFill>
              </a:defRPr>
            </a:pPr>
            <a:r>
              <a:rPr sz="1500" b="0">
                <a:solidFill>
                  <a:srgbClr val="EEF0FA"/>
                </a:solidFill>
              </a:rPr>
              <a:t>If full text cannot be redistributed, publish identifiers, URLs, short lawful excerpts and annotations.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534DC-93D5-4141-8C96-02556B01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48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2E907-FDBA-4FD0-9D09-7AA5934F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48250"/>
            <a:ext cx="6305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EF0FA"/>
                </a:solidFill>
              </a:defRPr>
            </a:pPr>
            <a:r>
              <a:rPr sz="1500" b="0">
                <a:solidFill>
                  <a:srgbClr val="EEF0FA"/>
                </a:solidFill>
              </a:rPr>
              <a:t>Preserve dates, versions, source authority and reviewer decisions for every record.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916FA-50E5-4F7A-94CE-5C3DADC1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Terms reviewed: mycheck.my/page-terms • AFP Malaysia legal notice • AVeriTeC temporal-evidence principle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02794-768F-4843-A9CA-66D39A2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372916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7979D5-8B5E-4430-8742-D6D4952A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SYSTEM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5B34B-9BF0-41F8-823A-C76CB36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Malay accuracy is plausible—but not yet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ACE65-A30B-49D2-B579-BBFD7113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AFCE"/>
                </a:solidFill>
              </a:defRPr>
            </a:pPr>
            <a:r>
              <a:rPr sz="1425" b="0">
                <a:solidFill>
                  <a:srgbClr val="A9AFCE"/>
                </a:solidFill>
              </a:rPr>
              <a:t>The repository has two verification paths with very different language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E6C50-F39B-4F2A-ABD6-6EF7536C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048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E77A4-342D-4466-AFBB-7E3FF791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E3F"/>
          </a:solidFill>
          <a:ln xmlns:a="http://schemas.openxmlformats.org/drawingml/2006/main" w="9525">
            <a:solidFill>
              <a:srgbClr val="1F5E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F528-AC1A-42A8-B585-EEBF61D6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EF0FA"/>
                </a:solidFill>
              </a:defRPr>
            </a:pPr>
            <a:r>
              <a:rPr sz="1050" b="1">
                <a:solidFill>
                  <a:srgbClr val="EEF0FA"/>
                </a:solidFill>
              </a:rPr>
              <a:t>PILOT 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6B678-8015-480D-A19D-4E98913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0FA"/>
                </a:solidFill>
              </a:defRPr>
            </a:pPr>
            <a:r>
              <a:rPr sz="2250" b="1">
                <a:solidFill>
                  <a:srgbClr val="EEF0FA"/>
                </a:solidFill>
              </a:rPr>
              <a:t>/factcheck/document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4556-C349-438A-9B35-F6B246C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8BFA"/>
                </a:solidFill>
              </a:defRPr>
            </a:pPr>
            <a:r>
              <a:rPr sz="157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8FA42-BBFA-4C91-9DF7-B71E128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0FA"/>
                </a:solidFill>
              </a:defRPr>
            </a:pPr>
            <a:r>
              <a:rPr sz="1425" b="0">
                <a:solidFill>
                  <a:srgbClr val="EEF0FA"/>
                </a:solidFill>
              </a:rPr>
              <a:t>Whole-document Qwen3 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D2FEE-EBB1-477A-B8CF-1628DEC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8BFA"/>
                </a:solidFill>
              </a:defRPr>
            </a:pPr>
            <a:r>
              <a:rPr sz="157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4321C-46FD-4FB0-BA9C-D2ECB0C9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0FA"/>
                </a:solidFill>
              </a:defRPr>
            </a:pPr>
            <a:r>
              <a:rPr sz="1425" b="0">
                <a:solidFill>
                  <a:srgbClr val="EEF0FA"/>
                </a:solidFill>
              </a:rPr>
              <a:t>Tavily web evidence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9D2D1-26AA-44E1-96DB-CA23B229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8BFA"/>
                </a:solidFill>
              </a:defRPr>
            </a:pPr>
            <a:r>
              <a:rPr sz="157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0865B-756D-447B-88E3-175DB6BC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0FA"/>
                </a:solidFill>
              </a:defRPr>
            </a:pPr>
            <a:r>
              <a:rPr sz="1425" b="0">
                <a:solidFill>
                  <a:srgbClr val="EEF0FA"/>
                </a:solidFill>
              </a:rPr>
              <a:t>No hard-coded language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D8A84-5C16-46F6-8783-46F8508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78BFA"/>
                </a:solidFill>
              </a:defRPr>
            </a:pPr>
            <a:r>
              <a:rPr sz="157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6563C-4774-4085-9634-28A7539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815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EF0FA"/>
                </a:solidFill>
              </a:defRPr>
            </a:pPr>
            <a:r>
              <a:rPr sz="1425" b="0">
                <a:solidFill>
                  <a:srgbClr val="EEF0FA"/>
                </a:solidFill>
              </a:rPr>
              <a:t>But benchmarks and query scaffolding are English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C69D7-6C31-47ED-A0E0-C8970210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5048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FCD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7DEFA-64EB-4B49-BE45-D946961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288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5310"/>
          </a:solidFill>
          <a:ln xmlns:a="http://schemas.openxmlformats.org/drawingml/2006/main" w="9525">
            <a:solidFill>
              <a:srgbClr val="6B531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367B8-2A57-4178-B911-012819D1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669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EF0FA"/>
                </a:solidFill>
              </a:defRPr>
            </a:pPr>
            <a:r>
              <a:rPr sz="1050" b="1">
                <a:solidFill>
                  <a:srgbClr val="EEF0FA"/>
                </a:solidFill>
              </a:rPr>
              <a:t>NEEDS ADAPTATION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F345C-A67A-43D2-9A05-E1AAAFC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0FA"/>
                </a:solidFill>
              </a:defRPr>
            </a:pPr>
            <a:r>
              <a:rPr sz="2250" b="1">
                <a:solidFill>
                  <a:srgbClr val="EEF0FA"/>
                </a:solidFill>
              </a:rPr>
              <a:t>/verify sentence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F19C5-DA09-4BD5-9D40-BCE263C7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5DE4D-0CE7-4634-B828-A42C5278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English spaCy sentence segmentation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52618-5EE4-4C79-9EE5-EFB0967D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854DA-6FC5-4527-94B8-F26FC30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English-oriented claim detector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55E20-FC50-4D4F-843C-2A40D2C7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5CCAC-5B97-4914-BF0A-8FF925B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862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Not suitable as the Malay annotation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374D5-5A9A-4F3D-9CAE-0F43BA7B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61244-E316-4CD6-A863-B57AA6A9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2440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Requires Malay-specific validation or replacement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EA510-0875-4B4E-8CBB-29F09BF0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830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5172A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823FD-1A5A-4E56-B37C-F650BACD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62600"/>
            <a:ext cx="784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78BFA"/>
                </a:solidFill>
              </a:defRPr>
            </a:pPr>
            <a:r>
              <a:rPr sz="1350" b="1">
                <a:solidFill>
                  <a:srgbClr val="A78BFA"/>
                </a:solidFill>
              </a:rPr>
              <a:t>Conclusion: use the document endpoint for the pilot, and report measured performance—not assumed multilingual capability.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21956-6D99-4B13-B2A1-FD79B9F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Repository review: pipeline/factcheck/* • pipeline/verification/claim_detector.py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92C0AE-0C5A-4F45-AF2E-796055B7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071002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5FC685-EC4D-42D7-9A88-FC429140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5FB6F-134B-48D8-B921-75B8FBD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A 50-claim pilot turns “fairly accurate” into a measurable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A63E0-65DB-41A8-BAA9-D041DD1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81300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A76E6-0AB8-4F21-B828-99567746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54E92-99A1-485E-B1EA-90B6C3AB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F3792-B8E1-4C30-8A9F-E4272CA3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495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9E977-117B-4557-A459-0E93FB8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714500" cy="1885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71D07-2527-4D2F-A06A-99D41EFA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251A3-FF89-4A33-BB25-14BED2EE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D2745-9873-400C-9B50-704541E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0FA"/>
                </a:solidFill>
              </a:defRPr>
            </a:pPr>
            <a:r>
              <a:rPr sz="1875" b="1">
                <a:solidFill>
                  <a:srgbClr val="EEF0FA"/>
                </a:solidFill>
              </a:rPr>
              <a:t>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51FBA-B9E6-445E-BBAB-55E9E9EF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50 recent Malay claims</a:t>
            </a:r>
          </a:p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across four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FAFC1-0964-4248-8D2D-C4F173D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714500" cy="1885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8FBD7-ECA0-4768-9590-D63471A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BCE97-02E6-44D7-9997-4AE2AD6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00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92176-7179-4ACD-943C-D5611F4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0FA"/>
                </a:solidFill>
              </a:defRPr>
            </a:pPr>
            <a:r>
              <a:rPr sz="1875" b="1">
                <a:solidFill>
                  <a:srgbClr val="EEF0FA"/>
                </a:solidFill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B7782-424D-40D0-B5C9-5336C104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Top-3 independent</a:t>
            </a:r>
          </a:p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evidence documents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57A31-6E3F-4BAF-95A8-CE2113C3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71700"/>
            <a:ext cx="1714500" cy="1885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0A9F4-11E2-43DE-B21F-5359DDB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50519-A911-4A8F-B041-995EA26B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4E98B-EB95-4310-8FDF-5A2149AC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0FA"/>
                </a:solidFill>
              </a:defRPr>
            </a:pPr>
            <a:r>
              <a:rPr sz="1875" b="1">
                <a:solidFill>
                  <a:srgbClr val="EEF0FA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66D70-8804-4389-AD61-C9EE4324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7185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Two Malay reviewers</a:t>
            </a:r>
          </a:p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plus adjudication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EC705-9BA5-4E0B-B364-11F5335F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1714500" cy="1885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42ED5-265A-4FD5-B6E8-5DA70014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1DDA1-9747-46FA-9008-5388C97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20ED5-1161-4AAB-B2CB-528C7742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0FA"/>
                </a:solidFill>
              </a:defRPr>
            </a:pPr>
            <a:r>
              <a:rPr sz="1875" b="1">
                <a:solidFill>
                  <a:srgbClr val="EEF0FA"/>
                </a:solidFill>
              </a:rPr>
              <a:t>Measure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53232-72C9-4F47-B1E1-91F2A50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Verdicts, coverage,</a:t>
            </a:r>
          </a:p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kappa, failures, 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3C9FB-90C0-4E7F-BF5F-0C0739B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714500" cy="1885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8BADC-33CF-4F8D-A981-79EE5FFB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43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3A91"/>
          </a:solidFill>
          <a:ln xmlns:a="http://schemas.openxmlformats.org/drawingml/2006/main" w="9525">
            <a:solidFill>
              <a:srgbClr val="4C3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D127C-117A-4B67-8C5E-DE83573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EF0FA"/>
                </a:solidFill>
              </a:defRPr>
            </a:pPr>
            <a:r>
              <a:rPr sz="1200" b="1">
                <a:solidFill>
                  <a:srgbClr val="EEF0FA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EF555D-08F4-4CA9-B0AC-CA47ED4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F0FA"/>
                </a:solidFill>
              </a:defRPr>
            </a:pPr>
            <a:r>
              <a:rPr sz="1875" b="1">
                <a:solidFill>
                  <a:srgbClr val="EEF0FA"/>
                </a:solidFill>
              </a:rPr>
              <a:t>Decide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5A6BA-F492-42AD-AC06-CD14B56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71850"/>
            <a:ext cx="137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Go • revise • pivot</a:t>
            </a:r>
          </a:p>
          <a:p xmlns:a="http://schemas.openxmlformats.org/drawingml/2006/main">
            <a:pPr algn="l">
              <a:defRPr sz="1200" b="0">
                <a:solidFill>
                  <a:srgbClr val="A9AFCE"/>
                </a:solidFill>
              </a:defRPr>
            </a:pPr>
            <a:r>
              <a:rPr sz="1200" b="0">
                <a:solidFill>
                  <a:srgbClr val="A9AFCE"/>
                </a:solidFill>
              </a:rPr>
              <a:t>with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C267B8-0C1C-444B-81FA-ECB8A485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8BFA"/>
                </a:solidFill>
              </a:defRPr>
            </a:pPr>
            <a:r>
              <a:rPr sz="2025" b="1">
                <a:solidFill>
                  <a:srgbClr val="A78BFA"/>
                </a:solidFill>
              </a:rPr>
              <a:t>Provisional go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C4BA5-6C1E-45DA-A1D1-7B3CC215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E8ABE-2DD8-44D9-87A1-4581001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FCE"/>
                </a:solidFill>
              </a:defRPr>
            </a:pPr>
            <a:r>
              <a:rPr sz="1125" b="0">
                <a:solidFill>
                  <a:srgbClr val="A9AFCE"/>
                </a:solidFill>
              </a:rPr>
              <a:t>Macro-F1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40A0DD-C709-4031-9B66-44FB983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DE80"/>
                </a:solidFill>
              </a:defRPr>
            </a:pPr>
            <a:r>
              <a:rPr sz="1725" b="1">
                <a:solidFill>
                  <a:srgbClr val="4ADE80"/>
                </a:solidFill>
              </a:rPr>
              <a:t>≥ 0.75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5B9E6-C4E2-4336-A22A-CA9DA49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863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8DEECB-9FC6-4C64-B6EC-B2352CBA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FCE"/>
                </a:solidFill>
              </a:defRPr>
            </a:pPr>
            <a:r>
              <a:rPr sz="1125" b="0">
                <a:solidFill>
                  <a:srgbClr val="A9AFCE"/>
                </a:solidFill>
              </a:rPr>
              <a:t>Evidence coverage@3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284BA-AC9C-4599-A25A-9C155FF2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5245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DE80"/>
                </a:solidFill>
              </a:defRPr>
            </a:pPr>
            <a:r>
              <a:rPr sz="1725" b="1">
                <a:solidFill>
                  <a:srgbClr val="4ADE80"/>
                </a:solidFill>
              </a:rPr>
              <a:t>≥ 0.80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151F9F-4175-427D-830B-5B199367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AFB6C1-10DA-483B-A81E-F66EED67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FCE"/>
                </a:solidFill>
              </a:defRPr>
            </a:pPr>
            <a:r>
              <a:rPr sz="1125" b="0">
                <a:solidFill>
                  <a:srgbClr val="A9AFCE"/>
                </a:solidFill>
              </a:rPr>
              <a:t>Cohen's kappa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02A0BB-67CB-4D82-89B8-0F01D07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245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DE80"/>
                </a:solidFill>
              </a:defRPr>
            </a:pPr>
            <a:r>
              <a:rPr sz="1725" b="1">
                <a:solidFill>
                  <a:srgbClr val="4ADE80"/>
                </a:solidFill>
              </a:rPr>
              <a:t>≥ 0.60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D56638-5299-487D-86F4-09F7548F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86350"/>
            <a:ext cx="2476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A1E36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94FC77-0560-41D1-952C-BA40E810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AFCE"/>
                </a:solidFill>
              </a:defRPr>
            </a:pPr>
            <a:r>
              <a:rPr sz="1125" b="0">
                <a:solidFill>
                  <a:srgbClr val="A9AFCE"/>
                </a:solidFill>
              </a:rPr>
              <a:t>Review requirement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126F70-8982-4BF6-928E-A7602974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245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CD34D"/>
                </a:solidFill>
              </a:defRPr>
            </a:pPr>
            <a:r>
              <a:rPr sz="1725" b="1">
                <a:solidFill>
                  <a:srgbClr val="FCD34D"/>
                </a:solidFill>
              </a:rPr>
              <a:t>2 Malay speakers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8EC92F-5336-47BB-B1B7-280EF05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Pilot uses Qwen3 8B sequential mode; compare document-only parallel mode and SEA-LION if feasible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BBE8D8-85B3-455A-B3A0-0AA8B1F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585207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20A81-9B15-4F9C-B77A-78C6EC6A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67ABA-8598-4769-8E85-26407C4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Proceed with Malay—conditionally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A4CE-37B9-4C1B-B144-74F003D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AFCE"/>
                </a:solidFill>
              </a:defRPr>
            </a:pPr>
            <a:r>
              <a:rPr sz="1650" b="0">
                <a:solidFill>
                  <a:srgbClr val="A9AFCE"/>
                </a:solidFill>
              </a:rPr>
              <a:t>The evidence-grounded gap is real, the sources are strong, and the existing document pipeline can support a pilot. Scaling depends on two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ECE08-8495-4FC5-AE86-080A831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333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B2512"/>
          </a:solidFill>
          <a:ln xmlns:a="http://schemas.openxmlformats.org/drawingml/2006/main" w="19050">
            <a:solidFill>
              <a:srgbClr val="FCD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50721-437A-42B3-A50C-30A4E070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CD34D"/>
                </a:solidFill>
              </a:defRPr>
            </a:pPr>
            <a:r>
              <a:rPr sz="1200" b="1">
                <a:solidFill>
                  <a:srgbClr val="FCD34D"/>
                </a:solidFill>
              </a:rPr>
              <a:t>Gate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B38F-07C9-4D75-BEF1-4E04E238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0FA"/>
                </a:solidFill>
              </a:defRPr>
            </a:pPr>
            <a:r>
              <a:rPr sz="2100" b="1">
                <a:solidFill>
                  <a:srgbClr val="EEF0FA"/>
                </a:solidFill>
              </a:rPr>
              <a:t>Source permission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0DC31-88C3-430D-BA07-303062B4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3333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B2512"/>
          </a:solidFill>
          <a:ln xmlns:a="http://schemas.openxmlformats.org/drawingml/2006/main" w="19050">
            <a:solidFill>
              <a:srgbClr val="FCD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43D03-7A38-41EB-B94B-0EF544A0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CD34D"/>
                </a:solidFill>
              </a:defRPr>
            </a:pPr>
            <a:r>
              <a:rPr sz="1200" b="1">
                <a:solidFill>
                  <a:srgbClr val="FCD34D"/>
                </a:solidFill>
              </a:rPr>
              <a:t>Gate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A76E9-CDAD-4989-8E83-F945CC6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0FA"/>
                </a:solidFill>
              </a:defRPr>
            </a:pPr>
            <a:r>
              <a:rPr sz="2100" b="1">
                <a:solidFill>
                  <a:srgbClr val="EEF0FA"/>
                </a:solidFill>
              </a:rPr>
              <a:t>Two Malay reviewers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7642A-7370-45DC-8F7A-1CD1E36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3581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53322"/>
          </a:solidFill>
          <a:ln xmlns:a="http://schemas.openxmlformats.org/drawingml/2006/main" w="19050">
            <a:solidFill>
              <a:srgbClr val="4ADE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86728-3952-401B-9EB9-B79ED24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DE80"/>
                </a:solidFill>
              </a:defRPr>
            </a:pPr>
            <a:r>
              <a:rPr sz="1200" b="1">
                <a:solidFill>
                  <a:srgbClr val="4ADE80"/>
                </a:solidFill>
              </a:rPr>
              <a:t>If both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ECB3C-6C52-462F-A0EF-D0F7044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76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F0FA"/>
                </a:solidFill>
              </a:defRPr>
            </a:pPr>
            <a:r>
              <a:rPr sz="2025" b="1">
                <a:solidFill>
                  <a:srgbClr val="EEF0FA"/>
                </a:solidFill>
              </a:rPr>
              <a:t>Build the 50-claim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43EB5-62E9-44B7-B9C4-B6CF1CB3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78BFA"/>
                </a:solidFill>
              </a:defRPr>
            </a:pPr>
            <a:r>
              <a:rPr sz="2175" b="1">
                <a:solidFill>
                  <a:srgbClr val="A78BFA"/>
                </a:solidFill>
              </a:rPr>
              <a:t>Deliver before the next discussion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85A73-5B50-4E93-AC5B-D19FA062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F936F-3604-4C69-AE1F-049CC4C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954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Source feasibility ledger: permission, terms, robots, structure and usable claim count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8E286-A05C-477B-9652-B2D0B64D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1A8C3-175F-49A7-B55C-645E9E3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954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Internal 50-claim pilot with auditable provenance and no fact-check-page evidence leakage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5CCD6-9E9D-4FC3-8C14-B20C628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20824E-0C25-496F-A4B7-99BF349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6400"/>
            <a:ext cx="954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Malay system report: macro-F1, evidence coverage, kappa, failures, latency and representative errors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C408C-697E-4BC2-BA9B-B68CC022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8BFA"/>
                </a:solidFill>
              </a:defRPr>
            </a:pPr>
            <a:r>
              <a:rPr sz="1500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CE4DB-BC42-4C91-B4DD-47C5A061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954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0FA"/>
                </a:solidFill>
              </a:defRPr>
            </a:pPr>
            <a:r>
              <a:rPr sz="1350" b="0">
                <a:solidFill>
                  <a:srgbClr val="EEF0FA"/>
                </a:solidFill>
              </a:rPr>
              <a:t>One-page annotation guide and a go / revise / pivot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52A26-84CF-49AB-BACF-4FE35DE9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Updated web deck: https://avprogramm.github.io/veritaserum-dataset-deck/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6268A-D438-4B12-9CBE-1D91715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611327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E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0528A-4678-423C-A616-FBBA20B6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</a:defRPr>
            </a:pPr>
            <a:r>
              <a:rPr sz="1050" b="1">
                <a:solidFill>
                  <a:srgbClr val="A78BFA"/>
                </a:solidFill>
              </a:rPr>
              <a:t>PRIMARY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EAC42-7C76-431A-B6A8-CFC3D35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0FA"/>
                </a:solidFill>
              </a:defRPr>
            </a:pPr>
            <a:r>
              <a:rPr sz="3000" b="1">
                <a:solidFill>
                  <a:srgbClr val="EEF0FA"/>
                </a:solidFill>
              </a:rPr>
              <a:t>References used for the corrected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65CF6-BF0F-4AD3-931B-6A70DB23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3EA5A-37CA-44C6-9ABE-FC6D49C1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3830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1A2E"/>
          </a:solidFill>
          <a:ln xmlns:a="http://schemas.openxmlformats.org/drawingml/2006/main" w="9525">
            <a:solidFill>
              <a:srgbClr val="2C31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CF15A-FFB0-4CB7-B755-04940204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Datasets and papers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0F959-B74F-40A2-9FE5-91C8531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Source archives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6505F-45BC-45DD-843A-38ED326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B8504-A2EE-4E35-A48C-83A00195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MalCov — doi.org/10.1109/IVIT55443.2022.10033374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E2A25-E41B-4805-9F93-89462A85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2AEB9-CF6B-42B4-9D33-D4E827A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Fake.my-COVID19 — doi.org/10.18080/jtde.v11n3.789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457D6-1AA3-4DEC-9F25-6A496DFA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61085-A1DE-4FA8-BA4A-EEDFC189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Fake.my repository — github.com/z3fei/Malaysia-COVID-19-Tweet-ID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42CEB-0E2A-47C1-B60A-97B2BBC5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2C73C-23F8-4E7C-8833-39E8B1F5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Malaysian-Dataset — malaysian-dataset.readthedocs.io/en/latest/news.html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09713-49B0-44F5-8A90-C04814A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802FA-54BB-404C-BDD6-ABC4DA72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Mixed Malay–English COVID tweets — doi.org/10.3390/bdcc7020061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066B9-8871-4833-B167-9EF0D33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A7938-287A-4355-A10F-F704F9A8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336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MultiClaim v2 — doi.org/10.5281/zenodo.15413169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7451B-C32D-431A-A2AC-4657D20A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939A24-173D-4813-9D28-49A8671C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Sebenarnya.my — sebenarnya.my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9C4E85-8A87-417B-BE71-817457D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23FD2-CF11-4B51-8297-0A8F00F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MyCheck operations / terms — mycheck.my/operation • /page-terms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540DD-7475-47D3-8B00-39365F83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25D23-204E-4DEC-935F-21ADB109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JomCheck — jomcheck.org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A7616-CBF1-4DC8-98EF-EBB3FDE0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78BFA"/>
                </a:solidFill>
              </a:defRPr>
            </a:pPr>
            <a:r>
              <a:rPr sz="1425" b="1">
                <a:solidFill>
                  <a:srgbClr val="A78BFA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6D2B6-79DA-4337-B725-45ED74D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434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F0FA"/>
                </a:solidFill>
              </a:defRPr>
            </a:pPr>
            <a:r>
              <a:rPr sz="1275" b="0">
                <a:solidFill>
                  <a:srgbClr val="EEF0FA"/>
                </a:solidFill>
              </a:rPr>
              <a:t>AFP Malaysia — factcheck.afp.com/list/Malaysia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28A9D-74C8-461D-820B-3A5FF05C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1021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AFCE"/>
                </a:solidFill>
              </a:defRPr>
            </a:pPr>
            <a:r>
              <a:rPr sz="1275" b="0">
                <a:solidFill>
                  <a:srgbClr val="A9AFCE"/>
                </a:solidFill>
              </a:rPr>
              <a:t>Full literature review: docs/Meeting Protocol - Veritaserum - Weekly Deliverable 18 July 2026.docx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73A9B-0286-4BA3-A20C-408AB52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FCE"/>
                </a:solidFill>
              </a:defRPr>
            </a:pPr>
            <a:r>
              <a:rPr sz="825" b="0">
                <a:solidFill>
                  <a:srgbClr val="A9AFCE"/>
                </a:solidFill>
              </a:rPr>
              <a:t>All access and non-use findings are scoped to public literature and repositories reviewed through 20 July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51794-449C-45F1-B8F6-7E2C3B8D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FCE"/>
                </a:solidFill>
              </a:defRPr>
            </a:pPr>
            <a:r>
              <a:rPr sz="900" b="0">
                <a:solidFill>
                  <a:srgbClr val="A9AFCE"/>
                </a:solidFill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289869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2026-07-20T06:47:58.1330000Z</dcterms:created>
  <dcterms:modified xsi:type="dcterms:W3CDTF">2026-07-20T06:47:58.1330000Z</dcterms:modified>
</coreProperties>
</file>